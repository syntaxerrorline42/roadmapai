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171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8640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065539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705073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27335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284675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200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968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8992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671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9054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099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6685-8EB2-ABA8-3E86-0023C02330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129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116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135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09CD5-0BDC-DD9A-4D01-9C2A782244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740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170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717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8A2E5B-9B68-E14E-AE30-0F9596EDB4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332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6519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939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9C7E-5742-C09F-032C-6B43AC243E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522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54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979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196B41-DAAA-6D68-8ED4-0BC5BB7D12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302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537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51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D8764F-5037-BF9D-77EB-3CF793BD70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430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042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195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B66683-21CE-CEC1-7CB2-4AC6455E9E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001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624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90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3ED059-178F-77B5-9FCB-003D564884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364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183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23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9F6144-45A5-4432-BCB9-B604C56437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430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077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153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34EA0B-8462-D2AD-B37A-2B2EF5AB75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836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733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016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EEA3F8-6C2A-9DC4-6E02-5AF6D87527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960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567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7037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23B015-EFB1-EA7A-1CB1-EEB5797A8A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131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35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61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61EED9-192D-630E-81AC-8385F0FFE5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420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7431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04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E683E-C339-0A0A-47C1-B1ABA8ADCC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508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645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30C8D4-31DB-55B6-3570-C74880093B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624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167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491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4699FA-6EE0-435D-CC8D-867252F79D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70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035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39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A9101-5FA5-26FC-AC69-2956AF5724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580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2166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2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6ECA7B-52EF-539E-18C8-748CF54810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120404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29866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5473831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433035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331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200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83788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11596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4771480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822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109530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126313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17900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2530876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749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20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65277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42975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996177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4537273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103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0744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48967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847969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610118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1101650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25961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6930926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5498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0264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03227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8094833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6238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2340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1190028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8813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068426" name="Title 1"/>
          <p:cNvSpPr>
            <a:spLocks noGrp="1"/>
          </p:cNvSpPr>
          <p:nvPr>
            <p:ph type="title"/>
          </p:nvPr>
        </p:nvSpPr>
        <p:spPr bwMode="auto">
          <a:xfrm>
            <a:off x="609606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99045794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79399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6" y="1435103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081034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2221926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320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35868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967601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5165891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77579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79956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483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1601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3002211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1244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8647805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7883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46240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318028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9918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20884670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7805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186676" name="Shape 1058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5947470" name="Shape 1059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479465835" name="Shape 1060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921359635" name="Shape 1061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2147405319" name="Shape 1062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262932114" name="Shape 1063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43506595" name="Shape 1064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634796250" name="Shape 1065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132003653" name="Shape 1066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65543216" name="Shape 1067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2333469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1946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48585645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23428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  <p:sp>
        <p:nvSpPr>
          <p:cNvPr id="1552054521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18494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Vlastiti sustav za učenje</a:t>
            </a:r>
            <a:endParaRPr lang="en-US" sz="44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 visokoškolskom okruženju</a:t>
            </a:r>
            <a:endParaRPr lang="en-US"/>
          </a:p>
        </p:txBody>
      </p:sp>
      <p:sp>
        <p:nvSpPr>
          <p:cNvPr id="68639483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algn="l">
              <a:defRPr/>
            </a:pPr>
            <a:r>
              <a:rPr lang="hr-HR" sz="1600"/>
              <a:t>Autor: Luka Volarević                                                        Mentor: </a:t>
            </a:r>
            <a:r>
              <a:rPr lang="en-US" sz="16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prof. dr. sc. Igor Mekterović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36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Uvod i motivacija</a:t>
            </a:r>
            <a:endParaRPr/>
          </a:p>
        </p:txBody>
      </p:sp>
      <p:sp>
        <p:nvSpPr>
          <p:cNvPr id="7791156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Digitalizacija obrazovanja i prebacivanje materijala online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Heterogeni izvori materijala za učenje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Integracija umjetne inteligencije u obrazovni sustav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Razvoj aplikacije za automatizirano stvaranje plana učenja koristeći UI</a:t>
            </a:r>
            <a:endParaRPr lang="hr-HR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2705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r-HR"/>
              <a:t>Primjer postojećih rješenja</a:t>
            </a:r>
            <a:endParaRPr/>
          </a:p>
        </p:txBody>
      </p:sp>
      <p:sp>
        <p:nvSpPr>
          <p:cNvPr id="47844270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09599" y="1535113"/>
            <a:ext cx="3696674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/>
              <a:t>Microsoft Learn</a:t>
            </a:r>
            <a:endParaRPr/>
          </a:p>
        </p:txBody>
      </p:sp>
      <p:sp>
        <p:nvSpPr>
          <p:cNvPr id="212881751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09599" y="2174874"/>
            <a:ext cx="36966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 sz="2400"/>
              <a:t>Komercijalna platforma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hr-HR" sz="2400"/>
              <a:t>Organizirana struktura gradiva</a:t>
            </a:r>
            <a:endParaRPr lang="hr-HR"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hr-HR" sz="2400"/>
              <a:t>Kratki ispiti</a:t>
            </a:r>
            <a:endParaRPr sz="2400"/>
          </a:p>
        </p:txBody>
      </p:sp>
      <p:sp>
        <p:nvSpPr>
          <p:cNvPr id="435040951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4574123" y="1535113"/>
            <a:ext cx="3218301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/>
              <a:t>Moodle</a:t>
            </a:r>
            <a:endParaRPr/>
          </a:p>
        </p:txBody>
      </p:sp>
      <p:sp>
        <p:nvSpPr>
          <p:cNvPr id="1667884328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4574123" y="2174874"/>
            <a:ext cx="32183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Često korištena platforma u obrazovanju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Objavljivanje heterogenih materijala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Veća sloboda</a:t>
            </a:r>
            <a:endParaRPr/>
          </a:p>
        </p:txBody>
      </p:sp>
      <p:sp>
        <p:nvSpPr>
          <p:cNvPr id="963631748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8116448" y="1535113"/>
            <a:ext cx="3218301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/>
              <a:t>Udemy Course</a:t>
            </a:r>
            <a:endParaRPr/>
          </a:p>
        </p:txBody>
      </p:sp>
      <p:sp>
        <p:nvSpPr>
          <p:cNvPr id="1131254085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8116448" y="2174874"/>
            <a:ext cx="32183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Tržišni model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Veća prilagodljivost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Upitna kvaliteta</a:t>
            </a:r>
            <a:endParaRPr lang="hr-HR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5956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Plan izrade aplikacije RoadmapAI</a:t>
            </a:r>
            <a:endParaRPr/>
          </a:p>
        </p:txBody>
      </p:sp>
      <p:sp>
        <p:nvSpPr>
          <p:cNvPr id="62075969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323976"/>
            <a:ext cx="10972800" cy="5133973"/>
          </a:xfrm>
        </p:spPr>
        <p:txBody>
          <a:bodyPr/>
          <a:lstStyle/>
          <a:p>
            <a:pPr>
              <a:defRPr/>
            </a:pPr>
            <a:r>
              <a:rPr lang="hr-HR"/>
              <a:t>Strukturiranost, vođenost, personaliziranost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Uvoz skripti, ispita, laboratorijskih vježbi u raznim formatima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Stvaranje kolegija sa sažetkom i planom učenja</a:t>
            </a:r>
            <a:endParaRPr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Kreiranje modula, lekcija, zadataka i ispita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Generiranje povratne informacije na osnovu rezultata</a:t>
            </a:r>
            <a:endParaRPr lang="hr-H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244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Plan izrade aplikacije RoadmapAI</a:t>
            </a:r>
            <a:endParaRPr/>
          </a:p>
        </p:txBody>
      </p:sp>
      <p:sp>
        <p:nvSpPr>
          <p:cNvPr id="93383453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323976"/>
            <a:ext cx="10972800" cy="5133973"/>
          </a:xfrm>
        </p:spPr>
        <p:txBody>
          <a:bodyPr/>
          <a:lstStyle/>
          <a:p>
            <a:pPr>
              <a:defRPr/>
            </a:pPr>
            <a:r>
              <a:rPr lang="hr-HR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 autentifikacija</a:t>
            </a: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r>
              <a:rPr lang="hr-HR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Informiranje korisnika o statusima generiranja</a:t>
            </a: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r>
              <a:rPr lang="hr-HR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Mogućnost ponovnog generiranja</a:t>
            </a: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r>
              <a:rPr lang="hr-HR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Smanjivanje halucinacija postavljanjem materijala kao primarni izvor istine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807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r-HR"/>
              <a:t>Tehnologije</a:t>
            </a:r>
            <a:endParaRPr/>
          </a:p>
        </p:txBody>
      </p:sp>
      <p:sp>
        <p:nvSpPr>
          <p:cNvPr id="110328270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09599" y="1535113"/>
            <a:ext cx="3696674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Korisničko sučelje</a:t>
            </a:r>
            <a:endParaRPr/>
          </a:p>
        </p:txBody>
      </p:sp>
      <p:sp>
        <p:nvSpPr>
          <p:cNvPr id="97164690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09599" y="2174874"/>
            <a:ext cx="36966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 sz="2400"/>
              <a:t>Angular 21</a:t>
            </a:r>
            <a:endParaRPr lang="hr-HR"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hr-HR" sz="2400"/>
              <a:t>Tailwind CSS</a:t>
            </a:r>
            <a:endParaRPr lang="hr-HR"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hr-HR" sz="2400"/>
              <a:t>PrimeNG</a:t>
            </a:r>
            <a:endParaRPr sz="2400"/>
          </a:p>
        </p:txBody>
      </p:sp>
      <p:sp>
        <p:nvSpPr>
          <p:cNvPr id="1625737417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4574123" y="1535113"/>
            <a:ext cx="3218301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Poslužiteljski dio</a:t>
            </a:r>
            <a:endParaRPr/>
          </a:p>
        </p:txBody>
      </p:sp>
      <p:sp>
        <p:nvSpPr>
          <p:cNvPr id="560549942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4574123" y="2174874"/>
            <a:ext cx="32183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.NET 10</a:t>
            </a:r>
            <a:endParaRPr lang="hr-H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hr-H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hr-H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ASP.NET Core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Entity Framework</a:t>
            </a:r>
            <a:r>
              <a:rPr lang="hr-H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PostgreSQL</a:t>
            </a:r>
            <a:endParaRPr/>
          </a:p>
        </p:txBody>
      </p:sp>
      <p:sp>
        <p:nvSpPr>
          <p:cNvPr id="340782227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8116448" y="1535113"/>
            <a:ext cx="3218301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/>
              <a:t>Mikrousluga</a:t>
            </a:r>
            <a:endParaRPr/>
          </a:p>
        </p:txBody>
      </p:sp>
      <p:sp>
        <p:nvSpPr>
          <p:cNvPr id="21703173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8116448" y="2174874"/>
            <a:ext cx="32183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FastAPI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Uvicorn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Google Gemini</a:t>
            </a:r>
            <a:endParaRPr lang="hr-HR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926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Tehnologije</a:t>
            </a:r>
            <a:endParaRPr/>
          </a:p>
        </p:txBody>
      </p:sp>
      <p:sp>
        <p:nvSpPr>
          <p:cNvPr id="12907508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>
              <a:defRPr/>
            </a:pPr>
            <a:r>
              <a:rPr lang="hr-H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Infrastruktura u oblaku</a:t>
            </a:r>
            <a:r>
              <a:rPr lang="hr-HR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CI/CD</a:t>
            </a:r>
            <a:endParaRPr sz="2400"/>
          </a:p>
        </p:txBody>
      </p:sp>
      <p:sp>
        <p:nvSpPr>
          <p:cNvPr id="8733972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Web App Service</a:t>
            </a:r>
            <a:r>
              <a:rPr lang="hr-HR"/>
              <a:t> (2)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SpaProxy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PostgreSQL Server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Azure Blob Storage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hr-H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 Actions</a:t>
            </a:r>
            <a:endParaRPr sz="2400"/>
          </a:p>
        </p:txBody>
      </p:sp>
      <p:pic>
        <p:nvPicPr>
          <p:cNvPr id="1458176629" name=""/>
          <p:cNvPicPr>
            <a:picLocks noChangeAspect="1"/>
          </p:cNvPicPr>
          <p:nvPr>
            <p:ph sz="quarter" idx="4"/>
          </p:nvPr>
        </p:nvPicPr>
        <p:blipFill>
          <a:blip r:embed="rId3"/>
          <a:stretch/>
        </p:blipFill>
        <p:spPr bwMode="auto">
          <a:xfrm rot="0" flipH="0" flipV="0">
            <a:off x="6310874" y="1535113"/>
            <a:ext cx="5420729" cy="4797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241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Implementacija rješenja</a:t>
            </a:r>
            <a:endParaRPr/>
          </a:p>
        </p:txBody>
      </p:sp>
      <p:sp>
        <p:nvSpPr>
          <p:cNvPr id="1337198558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8" cy="17525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14334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>
              <a:defRPr/>
            </a:lvl1pPr>
          </a:lstStyle>
          <a:p>
            <a:pPr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Autentifikacija</a:t>
            </a:r>
            <a:endParaRPr/>
          </a:p>
        </p:txBody>
      </p:sp>
      <p:sp>
        <p:nvSpPr>
          <p:cNvPr id="11457392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Registriranje korisnika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JWT token autentifikacija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Sigurnosni cookie</a:t>
            </a:r>
            <a:endParaRPr/>
          </a:p>
        </p:txBody>
      </p:sp>
      <p:pic>
        <p:nvPicPr>
          <p:cNvPr id="11659780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99033" y="1628775"/>
            <a:ext cx="5937332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52455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Stvaranje kolegija</a:t>
            </a:r>
            <a:endParaRPr sz="4400"/>
          </a:p>
        </p:txBody>
      </p:sp>
      <p:sp>
        <p:nvSpPr>
          <p:cNvPr id="105354249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Korisnik </a:t>
            </a:r>
            <a:r>
              <a:rPr lang="hr-HR"/>
              <a:t>odabire novi kolegij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Unosi ime i datoteke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Ekstrakcija teksta i spremanje u bazu</a:t>
            </a:r>
            <a:endParaRPr/>
          </a:p>
        </p:txBody>
      </p:sp>
      <p:pic>
        <p:nvPicPr>
          <p:cNvPr id="16339627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29285" y="1695449"/>
            <a:ext cx="5743574" cy="362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52514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Generiranje sažetka i plana učenja</a:t>
            </a:r>
            <a:endParaRPr sz="4400"/>
          </a:p>
        </p:txBody>
      </p:sp>
      <p:sp>
        <p:nvSpPr>
          <p:cNvPr id="10943624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„Generate Roadmap“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Slanje teksta materijala na mikrouslugu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Generiranje naslova modula i lekcija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„roadmap.txt“ upit</a:t>
            </a:r>
            <a:endParaRPr lang="hr-HR"/>
          </a:p>
        </p:txBody>
      </p:sp>
      <p:pic>
        <p:nvPicPr>
          <p:cNvPr id="705317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19824" y="1234177"/>
            <a:ext cx="4951049" cy="537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244727" name="Title 1"/>
          <p:cNvSpPr>
            <a:spLocks noGrp="1"/>
          </p:cNvSpPr>
          <p:nvPr>
            <p:ph type="title"/>
          </p:nvPr>
        </p:nvSpPr>
        <p:spPr bwMode="auto">
          <a:xfrm>
            <a:off x="-1285875" y="303212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Lekcije</a:t>
            </a:r>
            <a:endParaRPr sz="4400"/>
          </a:p>
        </p:txBody>
      </p:sp>
      <p:sp>
        <p:nvSpPr>
          <p:cNvPr id="6330036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Materijali su primarni izvor istine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Zadatak na kraju lekcije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„lesson.txt“ upit</a:t>
            </a:r>
            <a:endParaRPr lang="hr-HR"/>
          </a:p>
        </p:txBody>
      </p:sp>
      <p:pic>
        <p:nvPicPr>
          <p:cNvPr id="13526951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4542" y="197165"/>
            <a:ext cx="4375406" cy="6463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488618" name="Title 1"/>
          <p:cNvSpPr>
            <a:spLocks noGrp="1"/>
          </p:cNvSpPr>
          <p:nvPr>
            <p:ph type="title"/>
          </p:nvPr>
        </p:nvSpPr>
        <p:spPr bwMode="auto">
          <a:xfrm>
            <a:off x="-1485900" y="284162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Ispiti</a:t>
            </a:r>
            <a:endParaRPr sz="4400"/>
          </a:p>
        </p:txBody>
      </p:sp>
      <p:sp>
        <p:nvSpPr>
          <p:cNvPr id="20738536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Ispitima se može pristupiti tek na kraju modula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Završni ispit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„exam.txt“ upit</a:t>
            </a:r>
            <a:endParaRPr lang="hr-HR"/>
          </a:p>
        </p:txBody>
      </p:sp>
      <p:pic>
        <p:nvPicPr>
          <p:cNvPr id="14518553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34042" y="399998"/>
            <a:ext cx="4858806" cy="60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302111" name="Title 1"/>
          <p:cNvSpPr>
            <a:spLocks noGrp="1"/>
          </p:cNvSpPr>
          <p:nvPr>
            <p:ph type="title"/>
          </p:nvPr>
        </p:nvSpPr>
        <p:spPr bwMode="auto">
          <a:xfrm>
            <a:off x="-2107142" y="459517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Povratna informacija</a:t>
            </a:r>
            <a:endParaRPr sz="4400"/>
          </a:p>
        </p:txBody>
      </p:sp>
      <p:sp>
        <p:nvSpPr>
          <p:cNvPr id="18983518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8" y="2174873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Povratna informacija na osnovu napretka i rezultata</a:t>
            </a:r>
            <a:endParaRPr/>
          </a:p>
          <a:p>
            <a:pPr marL="0" indent="0">
              <a:buFont typeface="Arial"/>
              <a:buNone/>
              <a:defRPr/>
            </a:pPr>
            <a:endParaRPr lang="hr-HR"/>
          </a:p>
          <a:p>
            <a:pPr>
              <a:defRPr/>
            </a:pPr>
            <a:r>
              <a:rPr lang="hr-HR"/>
              <a:t>Objašnjene greške u razmišljanju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Savjet kako nastaviti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„review.txt“ upit</a:t>
            </a:r>
            <a:endParaRPr lang="hr-HR"/>
          </a:p>
        </p:txBody>
      </p:sp>
      <p:pic>
        <p:nvPicPr>
          <p:cNvPr id="1973317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15320" y="183292"/>
            <a:ext cx="5419258" cy="6491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245107" name="Title 1"/>
          <p:cNvSpPr>
            <a:spLocks noGrp="1"/>
          </p:cNvSpPr>
          <p:nvPr>
            <p:ph type="title"/>
          </p:nvPr>
        </p:nvSpPr>
        <p:spPr bwMode="auto">
          <a:xfrm>
            <a:off x="-2621492" y="345217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Pregled kolegija</a:t>
            </a:r>
            <a:endParaRPr sz="4400"/>
          </a:p>
        </p:txBody>
      </p:sp>
      <p:sp>
        <p:nvSpPr>
          <p:cNvPr id="7398407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71448" y="1675580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>
              <a:defRPr/>
            </a:pPr>
            <a:r>
              <a:rPr lang="hr-HR"/>
              <a:t>Lista materijala i njihovih statusa</a:t>
            </a:r>
            <a:endParaRPr/>
          </a:p>
          <a:p>
            <a:pPr marL="0" indent="0">
              <a:buFont typeface="Arial"/>
              <a:buNone/>
              <a:defRPr/>
            </a:pP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Prethodni ispiti i povratne informacije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Mogućnost ponovne generacije plana učenja ili resetiranja     </a:t>
            </a:r>
            <a:r>
              <a:rPr lang="hr-HR"/>
              <a:t>kolegija</a:t>
            </a:r>
            <a:endParaRPr lang="hr-HR"/>
          </a:p>
        </p:txBody>
      </p:sp>
      <p:pic>
        <p:nvPicPr>
          <p:cNvPr id="330733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66261" y="828674"/>
            <a:ext cx="6774737" cy="5321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46409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Upiti</a:t>
            </a:r>
            <a:endParaRPr sz="4400"/>
          </a:p>
        </p:txBody>
      </p:sp>
      <p:sp>
        <p:nvSpPr>
          <p:cNvPr id="1473411874" name="Content Placeholder 2"/>
          <p:cNvSpPr>
            <a:spLocks noGrp="1"/>
          </p:cNvSpPr>
          <p:nvPr>
            <p:ph idx="1"/>
          </p:nvPr>
        </p:nvSpPr>
        <p:spPr bwMode="auto">
          <a:xfrm>
            <a:off x="742948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hr-HR"/>
              <a:t>4 vrste upita („roadmap“, „lesson“, „exam“, „review“)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Tekst materijala se ubrizgava u upite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Prvi dio naglašava pristupačan način podučavanja</a:t>
            </a:r>
            <a:r>
              <a:rPr lang="hr-HR"/>
              <a:t> i pridržavanje gradiva iz materijala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Drugi dio naglašava strukturu odgovora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3412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Parsiranje odgovora</a:t>
            </a:r>
            <a:endParaRPr sz="4400"/>
          </a:p>
        </p:txBody>
      </p:sp>
      <p:sp>
        <p:nvSpPr>
          <p:cNvPr id="480848865" name="Content Placeholder 2"/>
          <p:cNvSpPr>
            <a:spLocks noGrp="1"/>
          </p:cNvSpPr>
          <p:nvPr>
            <p:ph idx="1"/>
          </p:nvPr>
        </p:nvSpPr>
        <p:spPr bwMode="auto">
          <a:xfrm>
            <a:off x="742948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hr-HR"/>
              <a:t>U upitima definirano pravilo LLM generiranja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Primamo odgovor i deserijaliziramo JSON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Ponovno dohvaćanje LLM modela kada nastupi greška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Optimistična detekcija pogreške strukture odgovora (JSON objekt višak)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Mapiranje objekata uz „Pydantic“ Python paket te slanje na API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Odgovor prolazi kroz Markdown formatiranje</a:t>
            </a:r>
            <a:endParaRPr lang="hr-HR"/>
          </a:p>
          <a:p>
            <a:pPr>
              <a:defRPr/>
            </a:pPr>
            <a:endParaRPr/>
          </a:p>
          <a:p>
            <a:pPr>
              <a:defRPr/>
            </a:pPr>
            <a:r>
              <a:rPr lang="hr-HR"/>
              <a:t>„Codeblock syntax highlighting</a:t>
            </a:r>
            <a:r>
              <a:rPr lang="hr-HR"/>
              <a:t>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82582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Zaključak</a:t>
            </a:r>
            <a:endParaRPr sz="4400"/>
          </a:p>
        </p:txBody>
      </p:sp>
      <p:sp>
        <p:nvSpPr>
          <p:cNvPr id="8775724" name="Content Placeholder 2"/>
          <p:cNvSpPr>
            <a:spLocks noGrp="1"/>
          </p:cNvSpPr>
          <p:nvPr>
            <p:ph idx="1"/>
          </p:nvPr>
        </p:nvSpPr>
        <p:spPr bwMode="auto">
          <a:xfrm>
            <a:off x="742948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hr-HR"/>
              <a:t>Strukturiranost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Vođenost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Personaliziranost</a:t>
            </a:r>
            <a:endParaRPr lang="hr-HR"/>
          </a:p>
          <a:p>
            <a:pPr>
              <a:defRPr/>
            </a:pPr>
            <a:endParaRPr lang="hr-HR"/>
          </a:p>
          <a:p>
            <a:pPr>
              <a:defRPr/>
            </a:pPr>
            <a:r>
              <a:rPr lang="hr-HR"/>
              <a:t>Prostor za napredak („scraping“, „social media“, </a:t>
            </a:r>
            <a:r>
              <a:rPr lang="hr-HR"/>
              <a:t>„AI assistant“)</a:t>
            </a:r>
            <a:endParaRPr lang="hr-HR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586794" name="Title 1"/>
          <p:cNvSpPr>
            <a:spLocks noGrp="1"/>
          </p:cNvSpPr>
          <p:nvPr>
            <p:ph type="title"/>
          </p:nvPr>
        </p:nvSpPr>
        <p:spPr bwMode="auto">
          <a:xfrm>
            <a:off x="914400" y="2311401"/>
            <a:ext cx="10363198" cy="14700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/>
            </a:lvl1pPr>
          </a:lstStyle>
          <a:p>
            <a:pPr algn="ctr">
              <a:defRPr/>
            </a:pPr>
            <a:r>
              <a:rPr lang="hr-H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Hvala na pažnji!</a:t>
            </a:r>
            <a:endParaRPr sz="4400"/>
          </a:p>
        </p:txBody>
      </p:sp>
      <p:sp>
        <p:nvSpPr>
          <p:cNvPr id="1555057126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505199"/>
            <a:ext cx="8534398" cy="1752598"/>
          </a:xfrm>
        </p:spPr>
        <p:txBody>
          <a:bodyPr/>
          <a:lstStyle/>
          <a:p>
            <a:pPr algn="l">
              <a:defRPr/>
            </a:pPr>
            <a:r>
              <a:rPr lang="hr-HR" sz="1600"/>
              <a:t>Autor: Luka Volarević                                                        Mentor: </a:t>
            </a:r>
            <a:r>
              <a:rPr lang="en-US" sz="16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rPr>
              <a:t>prof. dr. sc. Igor Mekterović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2026-06-30T18:31:49Z</dcterms:modified>
</cp:coreProperties>
</file>